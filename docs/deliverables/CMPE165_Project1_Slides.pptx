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TIME: 0:00-1:00 (60 seconds). SPEAKER: [member 1].</a:t>
            </a:r>
          </a:p>
          <a:p>
            <a:r>
              <a:rPr sz="1100"/>
              <a:t>Open with the concrete story, not the architecture: a projector dies in BBC 202, the faculty member emails a shared inbox, and nobody owns the request.</a:t>
            </a:r>
          </a:p>
          <a:p>
            <a:r>
              <a:rPr sz="1100"/>
              <a:t>Land one sentence on strategy: CTS is funded on service quality, so a queue with a defensible SLA number IS the strategy, not a tool purchase.</a:t>
            </a:r>
          </a:p>
          <a:p>
            <a:r>
              <a:rPr sz="1100"/>
              <a:t>Do NOT demo here. The Loom covers the product. Name the four interactions and move on.</a:t>
            </a:r>
          </a:p>
          <a:p>
            <a:r>
              <a:rPr sz="1100"/>
              <a:t>Likely question: why not just buy ServiceNow? Answer: that is exactly the decision tree on slide 3, and it loses on EMV.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TIME: 1:00-2:00 (60 seconds). SPEAKER: [member 2].</a:t>
            </a:r>
          </a:p>
          <a:p>
            <a:r>
              <a:rPr sz="1100"/>
              <a:t>This slide is about process management, not code. Spend your words on the conflict and the vibe-coding lesson; the structure bullets are for the reader, not the talk.</a:t>
            </a:r>
          </a:p>
          <a:p>
            <a:r>
              <a:rPr sz="1100"/>
              <a:t>The conflict is the strongest 15 seconds in the deck because nobody was declared the winner. Say explicitly that we separated SUBMIT from TRIAGE, which is a negotiation outcome, not a compromise that serves neither side.</a:t>
            </a:r>
          </a:p>
          <a:p>
            <a:r>
              <a:rPr sz="1100"/>
              <a:t>For AI: give the one concrete failure. Generated update logic stamped resolved_at when a ticket closed and never cleared it, so a reopened ticket froze the SLA clock and the dashboard under-counted breaches.</a:t>
            </a:r>
          </a:p>
          <a:p>
            <a:r>
              <a:rPr sz="1100"/>
              <a:t>Likely question: did AI write the analysis? Answer: it wrote structure; we chose every assumption and the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TIME: 2:00-3:00 (60 seconds). SPEAKER: [member 3].</a:t>
            </a:r>
          </a:p>
          <a:p>
            <a:r>
              <a:rPr sz="1100"/>
              <a:t>Do not read the risk register. Give the three risks in six words each and spend the rest of the minute on the chart.</a:t>
            </a:r>
          </a:p>
          <a:p>
            <a:r>
              <a:rPr sz="1100"/>
              <a:t>The chart is the whole argument: the green dashed line is what we estimated ($157,760), the red line is what 10,000 trials expect ($183,414), and the dotted line is the money we are actually approved to spend ($185,000). The gap between green and red is the planning fallacy with a dollar sign on it.</a:t>
            </a:r>
          </a:p>
          <a:p>
            <a:r>
              <a:rPr sz="1100"/>
              <a:t>Say the decision that changes: budget to the P80 of ~$208,000, not to the point estimate.</a:t>
            </a:r>
          </a:p>
          <a:p>
            <a:r>
              <a:rPr sz="1100"/>
              <a:t>Then the punchline for slide 4: the two variables that dominate NPV, minutes saved and adoption, are exactly what a cheap pilot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TIME: 3:00-4:00 (60 seconds). SPEAKER: [member 4]. If the team has fewer than four members, split this slide between two speakers so everyone presents.</a:t>
            </a:r>
          </a:p>
          <a:p>
            <a:r>
              <a:rPr sz="1100"/>
              <a:t>Say the recommendation in the first three seconds, then justify it. Do not build up to it.</a:t>
            </a:r>
          </a:p>
          <a:p>
            <a:r>
              <a:rPr sz="1100"/>
              <a:t>The framing that earns the marks: we are not asking whether the software works, we are asking whether CTS will change how it takes a request. That is a behavior question, and $46,000 answers it before $208,000 is committed.</a:t>
            </a:r>
          </a:p>
          <a:p>
            <a:r>
              <a:rPr sz="1100"/>
              <a:t>Close on the stop gate and say plainly that stopping at week eight would be a SUCCESSFUL use of this analysis, not a failed project. The assignment explicitly rewards that conclusion.</a:t>
            </a:r>
          </a:p>
          <a:p>
            <a:r>
              <a:rPr sz="1100"/>
              <a:t>HARD STOP at 4:00. If you are over, cut the middle three conditions and keep the pilot and the stop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330200"/>
            <a:ext cx="11226495" cy="584200"/>
          </a:xfrm>
        </p:spPr>
        <p:txBody>
          <a:bodyPr wrap="square" anchor="ctr">
            <a:noAutofit/>
          </a:bodyPr>
          <a:lstStyle/>
          <a:p>
            <a:pPr algn="l"/>
            <a:r>
              <a:rPr sz="3200" b="1">
                <a:solidFill>
                  <a:srgbClr val="0055A2"/>
                </a:solidFill>
              </a:rPr>
              <a:t>What Did We Build and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193800"/>
            <a:ext cx="11226495" cy="4191000"/>
          </a:xfrm>
        </p:spPr>
        <p:txBody>
          <a:bodyPr wrap="square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055A2"/>
                </a:solidFill>
              </a:rPr>
              <a:t>Problem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Campus tech requests live in a shared inbox and three departmental spreadsheets.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No named owner, no support-hour SLA clock, and no number the monthly service review can defend.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800" b="1">
                <a:solidFill>
                  <a:srgbClr val="0055A2"/>
                </a:solidFill>
              </a:rPr>
              <a:t>Customer / user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Faculty mid-lecture, students locked out of Canvas or eduroam, and CTS agents who triage by scrolling.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800" b="1">
                <a:solidFill>
                  <a:srgbClr val="0055A2"/>
                </a:solidFill>
              </a:rPr>
              <a:t>Strategic value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CTS is funded on measurable service quality: one intake path, one queue, one clock, one dashboard.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800" b="1">
                <a:solidFill>
                  <a:srgbClr val="0055A2"/>
                </a:solidFill>
              </a:rPr>
              <a:t>Working prototype — four interactions, not a platform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Submit a ticket → SLA target and a tracking number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Work the queue → search, filter, assign, work notes, audit trail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Support-hour SLA clock — weekdays 08:00–18:00, not calendar hours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Dashboard and CSV export for the monthly service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82600" y="990600"/>
            <a:ext cx="11226495" cy="31750"/>
          </a:xfrm>
          <a:prstGeom prst="rect">
            <a:avLst/>
          </a:prstGeom>
          <a:solidFill>
            <a:srgbClr val="E5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2600" y="5486400"/>
            <a:ext cx="11226495" cy="73660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0055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76200" bIns="76200"/>
          <a:lstStyle/>
          <a:p>
            <a:pPr algn="l"/>
            <a:r>
              <a:rPr sz="1500" b="1">
                <a:solidFill>
                  <a:srgbClr val="0055A2"/>
                </a:solidFill>
              </a:rPr>
              <a:t>The prototype works. The question we brought to management is not “can we build it” — it is whether CTS should keep investing, and whether it can execute.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1600"/>
            <a:ext cx="6604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04040"/>
                </a:solidFill>
              </a:rPr>
              <a:t>HelpDesk165  ·  CMPE 165 Project 1  ·  GO WITH CONDITIONS  ·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330200"/>
            <a:ext cx="11226495" cy="584200"/>
          </a:xfrm>
        </p:spPr>
        <p:txBody>
          <a:bodyPr wrap="square" anchor="ctr">
            <a:noAutofit/>
          </a:bodyPr>
          <a:lstStyle/>
          <a:p>
            <a:pPr algn="l"/>
            <a:r>
              <a:rPr sz="3200" b="1">
                <a:solidFill>
                  <a:srgbClr val="0055A2"/>
                </a:solidFill>
              </a:rPr>
              <a:t>How Did We Execute?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193800"/>
            <a:ext cx="11226495" cy="5156200"/>
          </a:xfrm>
        </p:spPr>
        <p:txBody>
          <a:bodyPr wrap="square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055A2"/>
                </a:solidFill>
              </a:rPr>
              <a:t>Team and structure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Matrix, not projectized — CTS cannot pull a dedicated unit for a year without hollowing out the desk.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Hybrid, on campus two days a week; classroom tickets need walk-up empathy.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Lanes are written down: service owner owns requirements, tech lead owns how, PM owns the date and the scope cut.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800" b="1">
                <a:solidFill>
                  <a:srgbClr val="0055A2"/>
                </a:solidFill>
              </a:rPr>
              <a:t>Leadership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Facilitative, with a spine. Disagreements go on a decision log within 24 hours, then to the CTS Director.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800" b="1">
                <a:solidFill>
                  <a:srgbClr val="0055A2"/>
                </a:solidFill>
              </a:rPr>
              <a:t>The conflict that mattered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Agents wanted a seven-field classroom form. Faculty will not fill that in while forty students wait.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Neither side won: submit stays 30 seconds, agents complete podium ID and CRN at triage.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800" b="1">
                <a:solidFill>
                  <a:srgbClr val="0055A2"/>
                </a:solidFill>
              </a:rPr>
              <a:t>Vibe-coding lesson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We thought the intake form was the project. The SLA clock was the project.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AI wrote page chrome and seed data well; it froze resolved_at on reopen, and tests caught it.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Humans made the calls: support hours over calendar hours, and no unqualified GO.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2600" y="990600"/>
            <a:ext cx="11226495" cy="31750"/>
          </a:xfrm>
          <a:prstGeom prst="rect">
            <a:avLst/>
          </a:prstGeom>
          <a:solidFill>
            <a:srgbClr val="E5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51600"/>
            <a:ext cx="6604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04040"/>
                </a:solidFill>
              </a:rPr>
              <a:t>HelpDesk165  ·  CMPE 165 Project 1  ·  GO WITH CONDITIONS  ·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330200"/>
            <a:ext cx="11226495" cy="584200"/>
          </a:xfrm>
        </p:spPr>
        <p:txBody>
          <a:bodyPr wrap="square" anchor="ctr">
            <a:noAutofit/>
          </a:bodyPr>
          <a:lstStyle/>
          <a:p>
            <a:pPr algn="l"/>
            <a:r>
              <a:rPr sz="3200" b="1">
                <a:solidFill>
                  <a:srgbClr val="0055A2"/>
                </a:solidFill>
              </a:rPr>
              <a:t>What Could Go Wrong?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193800"/>
            <a:ext cx="6558097" cy="5156200"/>
          </a:xfrm>
        </p:spPr>
        <p:txBody>
          <a:bodyPr wrap="square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55A2"/>
                </a:solidFill>
              </a:rPr>
              <a:t>Three largest risks, ranked by exposure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</a:rPr>
              <a:t>R3 Adoption — $28,500. Inbox culture survives and the labor savings never appear.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</a:rPr>
              <a:t>R2 Cost and schedule — $18,900. 44% chance of passing the $185K approval ceiling.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</a:rPr>
              <a:t>R5 FERPA — $15,000. Student records sit in ticket bodies with no access control yet.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600" b="1">
                <a:solidFill>
                  <a:srgbClr val="0055A2"/>
                </a:solidFill>
              </a:rPr>
              <a:t>Decision tree: the pilot wins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</a:rPr>
              <a:t>Eight-week paid pilot EMV $98,300, versus build now $85,000 and license ITSM $72,750.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</a:rPr>
              <a:t>Pilot downside −$46K; build-now downside −$95K.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600" b="1">
                <a:solidFill>
                  <a:srgbClr val="0055A2"/>
                </a:solidFill>
              </a:rPr>
              <a:t>Monte Carlo, 10,000 trials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</a:rPr>
              <a:t>$179,670 point-estimate NPV → $54,286 expected NPV; P(NPV &lt; 0) = 27.3%.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</a:rPr>
              <a:t>Minutes saved and adoption drive NPV — not engineering hours.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2600" y="990600"/>
            <a:ext cx="11226495" cy="31750"/>
          </a:xfrm>
          <a:prstGeom prst="rect">
            <a:avLst/>
          </a:prstGeom>
          <a:solidFill>
            <a:srgbClr val="E5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nte_carlo_cost_pres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497" y="1193800"/>
            <a:ext cx="4490598" cy="4126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18497" y="5371095"/>
            <a:ext cx="4490598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404040"/>
                </a:solidFill>
              </a:rPr>
              <a:t>Estimate $157,760 · expected $183,414 · approved ceiling $185,000 · P80 $208,011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1600"/>
            <a:ext cx="6604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04040"/>
                </a:solidFill>
              </a:rPr>
              <a:t>HelpDesk165  ·  CMPE 165 Project 1  ·  GO WITH CONDITIONS  ·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330200"/>
            <a:ext cx="11226495" cy="584200"/>
          </a:xfrm>
        </p:spPr>
        <p:txBody>
          <a:bodyPr wrap="square" anchor="ctr">
            <a:noAutofit/>
          </a:bodyPr>
          <a:lstStyle/>
          <a:p>
            <a:pPr algn="l"/>
            <a:r>
              <a:rPr sz="3200" b="1">
                <a:solidFill>
                  <a:srgbClr val="0055A2"/>
                </a:solidFill>
              </a:rPr>
              <a:t>Should We Continue?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193800"/>
            <a:ext cx="11226495" cy="4191000"/>
          </a:xfrm>
        </p:spPr>
        <p:txBody>
          <a:bodyPr wrap="square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E6F45"/>
                </a:solidFill>
              </a:rPr>
              <a:t>GO WITH CONDITIONS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Not GO — the $179,670 NPV is the mode of our inputs, not the mean. Expected NPV is $54,286.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Not NO-GO — expected value is still positive, the pilot has the best EMV, and learning costs $46K.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800" b="1">
                <a:solidFill>
                  <a:srgbClr val="0055A2"/>
                </a:solidFill>
              </a:rPr>
              <a:t>The conditions, written into the funding memo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Eight-week paid pilot in Classroom Technology and Canvas support; close the shared inbox for those categories. $46K.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Role-based access control and a booked FERPA review before a single real ticket is accepted.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Hold capital at the P80 build cost of ~$208K, not the $157,760 point estimate.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Launch scope frozen at four features. No knowledge base, no chat, no mobile app.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450">
                <a:solidFill>
                  <a:srgbClr val="1A1A1A"/>
                </a:solidFill>
              </a:rPr>
              <a:t>Stop gate: intake share under 60% at week eight means the full build is not funded.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2600" y="990600"/>
            <a:ext cx="11226495" cy="31750"/>
          </a:xfrm>
          <a:prstGeom prst="rect">
            <a:avLst/>
          </a:prstGeom>
          <a:solidFill>
            <a:srgbClr val="E5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2600" y="5486400"/>
            <a:ext cx="11226495" cy="73660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0055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76200" bIns="76200"/>
          <a:lstStyle/>
          <a:p>
            <a:pPr algn="l"/>
            <a:r>
              <a:rPr sz="1500" b="1">
                <a:solidFill>
                  <a:srgbClr val="0055A2"/>
                </a:solidFill>
              </a:rPr>
              <a:t>We are not asking whether the software works. We are asking whether CTS will change how it takes a request — and $46K answers that before $208K is committed.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1600"/>
            <a:ext cx="6604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04040"/>
                </a:solidFill>
              </a:rPr>
              <a:t>HelpDesk165  ·  CMPE 165 Project 1  ·  GO WITH CONDITIONS  ·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